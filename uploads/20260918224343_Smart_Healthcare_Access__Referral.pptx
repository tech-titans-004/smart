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</ns0:sldIdLst>
  <ns0:sldSz cx="12192000" cy="6858000" type="screen4x3"/>
  <ns0:notesSz cx="6858000" cy="9144000"/>
  <ns0:embeddedFontLst>
    <ns0:embeddedFont>
      <ns0:font typeface="Plus Jakarta Sans"/>
      <ns0:bold ns1:id="rIdFont16"/>
      <ns0:regular ns1:id="rIdFont17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Font16" Type="http://schemas.openxmlformats.org/officeDocument/2006/relationships/font" Target="fonts/0a02e1ac-7a31-4126-840e-d468d673380f.fntdata" /><ns0:Relationship Id="rIdFont17" Type="http://schemas.openxmlformats.org/officeDocument/2006/relationships/font" Target="fonts/956f4935-3400-4b37-b296-23f5d701888d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4660552"/>
            <a:ext cx="457200" cy="381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078384"/>
            <a:ext cx="11430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D9488"/>
                </a:solidFill>
                <a:latin typeface="Plus Jakarta Sans"/>
              </a:rPr>
              <a:t>TECHNEXA 2026 • PROBLEM STATEMENT #5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411759"/>
            <a:ext cx="8901112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Plus Jakarta Sans"/>
              </a:rPr>
              <a:t>Smart Healthcare Access &amp; Referral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741390"/>
            <a:ext cx="6762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Closing critical gaps between rural patients, frontline clinics, and regional specialists.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62100" y="4579590"/>
            <a:ext cx="49410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Engineering Brief • Core Problem Gaps &amp; Web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THE CORE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781050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The Real-World Referral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95812" y="2867025"/>
            <a:ext cx="3000375" cy="1047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b="1" sz="8250" i="0" u="none">
                <a:solidFill>
                  <a:srgbClr val="0F172A"/>
                </a:solidFill>
                <a:latin typeface="Plus Jakarta Sans"/>
              </a:rPr>
              <a:t>65%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0296" y="4067175"/>
            <a:ext cx="363140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D9488"/>
                </a:solidFill>
                <a:latin typeface="Plus Jakarta Sans"/>
              </a:rPr>
              <a:t>Paper Referrals Lost in Transit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43187" y="4410075"/>
            <a:ext cx="69056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Plus Jakarta Sans"/>
              </a:rPr>
              <a:t>Underserved patients abandon secondary consultations due to lack of coordination and travel fatigue.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094732"/>
            <a:ext cx="3403550" cy="1601985"/>
          </a:xfrm>
          <a:prstGeom prst="roundRect">
            <a:avLst>
              <a:gd name="adj" fmla="val 71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2974776"/>
            <a:ext cx="3403550" cy="1841896"/>
          </a:xfrm>
          <a:prstGeom prst="roundRect">
            <a:avLst>
              <a:gd name="adj" fmla="val 620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2974776"/>
            <a:ext cx="3403550" cy="1841896"/>
          </a:xfrm>
          <a:prstGeom prst="roundRect">
            <a:avLst>
              <a:gd name="adj" fmla="val 620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399532"/>
            <a:ext cx="3048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3279576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4900" y="3279576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ROOT CAUSES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781050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Three Fatal Gaps in Current Care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3818632"/>
            <a:ext cx="38670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Disconnected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4152007"/>
            <a:ext cx="3682937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Zero prior context arrives at hospital.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2750" y="3698676"/>
            <a:ext cx="38670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Facility Mismatch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2750" y="4032051"/>
            <a:ext cx="30416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Patients travel to unavailable specialists.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4900" y="3698676"/>
            <a:ext cx="38670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Zero Feedback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4900" y="4032051"/>
            <a:ext cx="30416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Primary clinics never receive outcome status.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952750"/>
            <a:ext cx="5143500" cy="1885950"/>
          </a:xfrm>
          <a:prstGeom prst="roundRect">
            <a:avLst>
              <a:gd name="adj" fmla="val 606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86500" y="2952750"/>
            <a:ext cx="5143500" cy="1885950"/>
          </a:xfrm>
          <a:prstGeom prst="roundRect">
            <a:avLst>
              <a:gd name="adj" fmla="val 606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81050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Current Reality vs. Proposed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3257550"/>
            <a:ext cx="595074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91B1B"/>
                </a:solidFill>
                <a:latin typeface="Plus Jakarta Sans"/>
              </a:rPr>
              <a:t>The Broken Paper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1300" y="3257550"/>
            <a:ext cx="56007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766E"/>
                </a:solidFill>
                <a:latin typeface="Plus Jakarta Sans"/>
              </a:rPr>
              <a:t>Our Smart Web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3648075"/>
            <a:ext cx="5667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7F1D1D"/>
                </a:solidFill>
                <a:latin typeface="Plus Jakarta Sans"/>
              </a:rPr>
              <a:t>Unchecked:</a:t>
            </a:r>
            <a:r>
              <a:rPr b="0" sz="1350" i="0" u="none">
                <a:solidFill>
                  <a:srgbClr val="7F1D1D"/>
                </a:solidFill>
                <a:latin typeface="Plus Jakarta Sans"/>
              </a:rPr>
              <a:t> High risk of lost paperwork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3981450"/>
            <a:ext cx="5667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7F1D1D"/>
                </a:solidFill>
                <a:latin typeface="Plus Jakarta Sans"/>
              </a:rPr>
              <a:t>Blind Trips:</a:t>
            </a:r>
            <a:r>
              <a:rPr b="0" sz="1350" i="0" u="none">
                <a:solidFill>
                  <a:srgbClr val="7F1D1D"/>
                </a:solidFill>
                <a:latin typeface="Plus Jakarta Sans"/>
              </a:rPr>
              <a:t> Unknown equipment availability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4314825"/>
            <a:ext cx="5667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7F1D1D"/>
                </a:solidFill>
                <a:latin typeface="Plus Jakarta Sans"/>
              </a:rPr>
              <a:t>No Tracking:</a:t>
            </a:r>
            <a:r>
              <a:rPr b="0" sz="1350" i="0" u="none">
                <a:solidFill>
                  <a:srgbClr val="7F1D1D"/>
                </a:solidFill>
                <a:latin typeface="Plus Jakarta Sans"/>
              </a:rPr>
              <a:t> 65% patient drop-off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1300" y="3648075"/>
            <a:ext cx="56007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15E59"/>
                </a:solidFill>
                <a:latin typeface="Plus Jakarta Sans"/>
              </a:rPr>
              <a:t>Digital Pass:</a:t>
            </a:r>
            <a:r>
              <a:rPr b="0" sz="1350" i="0" u="none">
                <a:solidFill>
                  <a:srgbClr val="115E59"/>
                </a:solidFill>
                <a:latin typeface="Plus Jakarta Sans"/>
              </a:rPr>
              <a:t> Single QR code with vital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1300" y="3981450"/>
            <a:ext cx="56007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15E59"/>
                </a:solidFill>
                <a:latin typeface="Plus Jakarta Sans"/>
              </a:rPr>
              <a:t>Live Matching:</a:t>
            </a:r>
            <a:r>
              <a:rPr b="0" sz="1350" i="0" u="none">
                <a:solidFill>
                  <a:srgbClr val="115E59"/>
                </a:solidFill>
                <a:latin typeface="Plus Jakarta Sans"/>
              </a:rPr>
              <a:t> Real-time facility capability 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1300" y="4314825"/>
            <a:ext cx="56007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15E59"/>
                </a:solidFill>
                <a:latin typeface="Plus Jakarta Sans"/>
              </a:rPr>
              <a:t>Closed-Loop:</a:t>
            </a:r>
            <a:r>
              <a:rPr b="0" sz="1350" i="0" u="none">
                <a:solidFill>
                  <a:srgbClr val="115E59"/>
                </a:solidFill>
                <a:latin typeface="Plus Jakarta Sans"/>
              </a:rPr>
              <a:t> Automated status return to primary clinic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157537"/>
            <a:ext cx="2524125" cy="1476375"/>
          </a:xfrm>
          <a:prstGeom prst="roundRect">
            <a:avLst>
              <a:gd name="adj" fmla="val 77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6625" y="3048000"/>
            <a:ext cx="2524125" cy="1695450"/>
          </a:xfrm>
          <a:prstGeom prst="roundRect">
            <a:avLst>
              <a:gd name="adj" fmla="val 67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157537"/>
            <a:ext cx="2524125" cy="1476375"/>
          </a:xfrm>
          <a:prstGeom prst="roundRect">
            <a:avLst>
              <a:gd name="adj" fmla="val 77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05875" y="3048000"/>
            <a:ext cx="2524125" cy="1695450"/>
          </a:xfrm>
          <a:prstGeom prst="roundRect">
            <a:avLst>
              <a:gd name="adj" fmla="val 67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IMPLEMENTATION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End-to-End Referral 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3386137"/>
            <a:ext cx="25836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D9488"/>
                </a:solidFill>
                <a:latin typeface="Plus Jakarta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3662362"/>
            <a:ext cx="271283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Intake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3967162"/>
            <a:ext cx="21621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Symptom entry by frontline health worker.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5225" y="3276600"/>
            <a:ext cx="25836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D9488"/>
                </a:solidFill>
                <a:latin typeface="Plus Jakarta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5225" y="3552825"/>
            <a:ext cx="271283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Triage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5225" y="3857625"/>
            <a:ext cx="2162175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Automated specialty and urgency recommendation.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850" y="3386137"/>
            <a:ext cx="25836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D9488"/>
                </a:solidFill>
                <a:latin typeface="Plus Jakarta San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850" y="3662362"/>
            <a:ext cx="271283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QR 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850" y="3967162"/>
            <a:ext cx="21621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Instant digital voucher for receiving hospital.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4475" y="3276600"/>
            <a:ext cx="25836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D9488"/>
                </a:solidFill>
                <a:latin typeface="Plus Jakarta San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4475" y="3552825"/>
            <a:ext cx="271283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Close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4475" y="3857625"/>
            <a:ext cx="2162175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Consultation logged with automated SMS follow-up.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085975"/>
            <a:ext cx="5143500" cy="3619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HACKATHON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81050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The Web Application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933700"/>
            <a:ext cx="675084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Frontend 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228975"/>
            <a:ext cx="6429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Responsive React dashboard with multilingual interface.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638550"/>
            <a:ext cx="675084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Triage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933825"/>
            <a:ext cx="6429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Rule-based specialty mapping and severity sorting.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343400"/>
            <a:ext cx="675084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Hospital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638675"/>
            <a:ext cx="6429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One-click QR scanner with referral status sync.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10050" y="3324225"/>
            <a:ext cx="9525" cy="1143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72425" y="3324225"/>
            <a:ext cx="9525" cy="1143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PROJECTED 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81050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Target Real-World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9093" y="3295650"/>
            <a:ext cx="3929062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0D9488"/>
                </a:solidFill>
                <a:latin typeface="Plus Jakarta Sans"/>
              </a:rPr>
              <a:t>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9093" y="3981450"/>
            <a:ext cx="392906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Lost Referrals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9093" y="4276725"/>
            <a:ext cx="39290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Plus Jakarta Sans"/>
              </a:rPr>
              <a:t>Complete digital record continuity.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31468" y="3295650"/>
            <a:ext cx="3929062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0D9488"/>
                </a:solidFill>
                <a:latin typeface="Plus Jakarta Sans"/>
              </a:rPr>
              <a:t>3x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1468" y="3981450"/>
            <a:ext cx="392906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Faster Admissions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1468" y="4276725"/>
            <a:ext cx="39290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Plus Jakarta Sans"/>
              </a:rPr>
              <a:t>Instant triage priority on arrival.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3843" y="3295650"/>
            <a:ext cx="3929062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1" sz="4800" i="0" u="none">
                <a:solidFill>
                  <a:srgbClr val="0D9488"/>
                </a:solidFill>
                <a:latin typeface="Plus Jakarta Sans"/>
              </a:rPr>
              <a:t>45%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3843" y="3981450"/>
            <a:ext cx="392906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Travel Reduction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3843" y="4276725"/>
            <a:ext cx="39290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Plus Jakarta Sans"/>
              </a:rPr>
              <a:t>Zero wasted trips to unequipped sites.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100" y="4309020"/>
            <a:ext cx="152400" cy="152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25" y="4309020"/>
            <a:ext cx="190500" cy="152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0" y="4309020"/>
            <a:ext cx="152400" cy="152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62587" y="2377380"/>
            <a:ext cx="12668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D9488"/>
                </a:solidFill>
                <a:latin typeface="Plus Jakarta Sans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4171" y="2710755"/>
            <a:ext cx="9263657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b="1" sz="3300" i="0" u="none">
                <a:solidFill>
                  <a:srgbClr val="F8FAFC"/>
                </a:solidFill>
                <a:latin typeface="Plus Jakarta Sans"/>
              </a:rPr>
              <a:t>Ready to Build &amp; Deploy on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43187" y="3404145"/>
            <a:ext cx="6905625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A high-impact, realistic web application addressing genuine healthcare logistical bottlenecks.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86225" y="4280445"/>
            <a:ext cx="1400175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CBD5E1"/>
                </a:solidFill>
                <a:latin typeface="Plus Jakarta Sans"/>
              </a:rPr>
              <a:t> Repo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9250" y="4280445"/>
            <a:ext cx="1247775" cy="2000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CBD5E1"/>
                </a:solidFill>
                <a:latin typeface="Plus Jakarta Sans"/>
              </a:rPr>
              <a:t>Fast MVP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2731" y="4280445"/>
            <a:ext cx="1500187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CBD5E1"/>
                </a:solidFill>
                <a:latin typeface="Plus Jakarta Sans"/>
              </a:rPr>
              <a:t>Demo Ready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3822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00125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https://photos.peopleimages.com/picture/202208/2481539-doctor-consulting-patient-with-digital-tablet-giving-diagnosis-and-medical-checkup-in-a-hospital.-healthcare-worker-and-trusted-physician-in-appointment-with-medicine-advice-wellness-and-feedback-fit_400_400.jpg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352550"/>
            <a:ext cx="2559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peopleimages.com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